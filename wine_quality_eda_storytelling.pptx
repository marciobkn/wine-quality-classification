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417320"/>
            <a:ext cx="32004" cy="14173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8010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C2F39"/>
                </a:solidFill>
                <a:latin typeface="Segoe UI"/>
              </a:rPr>
              <a:t>ANÁLISE EXPLORATÓRIA E MODELAGEM PREDITIVA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1A"/>
                </a:solidFill>
                <a:latin typeface="Georgia"/>
              </a:rPr>
              <a:t>Prevendo a qualidade</a:t>
            </a:r>
          </a:p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A1A1A"/>
                </a:solidFill>
                <a:latin typeface="Georgia"/>
              </a:rPr>
              <a:t>do vinho antes da taça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63240"/>
            <a:ext cx="5669280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24612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O que 1.143 amostras de laboratório revelam sobre a nota que um especialista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dará — e sobre onde vale a pena mexer no processo produtivo.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41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Georgia"/>
              </a:rPr>
              <a:t>1.143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434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Segoe UI"/>
              </a:rPr>
              <a:t>AMOSTRAS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4041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Georgia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6" y="43434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Segoe UI"/>
              </a:rPr>
              <a:t>VARIÁVEIS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4041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Georgia"/>
              </a:rPr>
              <a:t>tinto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43434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Segoe UI"/>
              </a:rPr>
              <a:t>TIPO DE VINHO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4041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Georgia"/>
              </a:rPr>
              <a:t>13,9%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43434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Segoe UI"/>
              </a:rPr>
              <a:t>ALTA QUALIDADE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O 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A nota depende do paladar de quem prova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C2F3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eorgia"/>
              </a:rPr>
              <a:t>Subjetivo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95728"/>
            <a:ext cx="2395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Dois especialistas dão notas diferentes para o mesmo vinho. A avaliação sensorial depende do paladar, da experiência e até do dia de quem prova.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600200"/>
            <a:ext cx="9525" cy="1737360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60020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C2F3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01168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eorgia"/>
              </a:rPr>
              <a:t>Caro e lento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395728"/>
            <a:ext cx="2395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Cada lote consome tempo de um profissional escasso. O custo cresce linearmente com o volume produzido — não há ganho de escala.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0176" y="1600200"/>
            <a:ext cx="9525" cy="1737360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60020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C2F39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01168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eorgia"/>
              </a:rPr>
              <a:t>Tarde demais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395728"/>
            <a:ext cx="2395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A nota só chega quando o vinho já está pronto. Quando o problema aparece, não há mais processo a corrigir: só há prejuízo a contabilizar.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77639"/>
            <a:ext cx="8010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C2F39"/>
                </a:solidFill>
                <a:latin typeface="Georgia"/>
              </a:rPr>
              <a:t>A pergunta: dá para saber antes — com os dados que o laboratório já coleta?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COMO TRANSFORMAMOS 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De uma nota de 3 a 9 para uma decisão de sim ou não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8010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B6B6B"/>
                </a:solidFill>
                <a:latin typeface="Segoe UI"/>
              </a:rPr>
              <a:t>A operação não precisa prever "nota 6,4". Precisa saber em qual lote vale a pena investir atenção.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6895872" cy="475488"/>
          </a:xfrm>
          <a:prstGeom prst="rect">
            <a:avLst/>
          </a:prstGeom>
          <a:solidFill>
            <a:srgbClr val="D8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81850" y="2148840"/>
            <a:ext cx="1095222" cy="47548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7063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Segoe UI"/>
              </a:rPr>
              <a:t>86,1%   Baixa / Média qualidade  (nota &lt;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2770632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C2F39"/>
                </a:solidFill>
                <a:latin typeface="Segoe UI"/>
              </a:rPr>
              <a:t>13,9%   Alta qualidade  (nota ≥ 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01568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611880"/>
            <a:ext cx="8010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Apenas 1 em cada 7 vinhos é de alta qualidade. É agulha no palheiro —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e é exatamente por isso que um bom filtro vale tanto.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O QUE OS DADOS DIZEM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O que realmente acompanha a nota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1980" y="1389888"/>
            <a:ext cx="9525" cy="2487168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Álcool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1030" y="1481328"/>
            <a:ext cx="2030168" cy="1828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3588" y="14859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+0,40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425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Acidez volátil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1422" y="1824228"/>
            <a:ext cx="1531508" cy="1828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664" y="18288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Segoe UI"/>
              </a:rPr>
              <a:t>-0,30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1854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Ácido cítrico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1030" y="2167128"/>
            <a:ext cx="1263062" cy="1828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6482" y="21717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+0,25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283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Sulfatos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1030" y="2510028"/>
            <a:ext cx="1046171" cy="1828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9591" y="25146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+0,21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8712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Densidade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5239" y="2852928"/>
            <a:ext cx="747691" cy="1828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4481" y="28575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Segoe UI"/>
              </a:rPr>
              <a:t>-0,15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141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Acidez fixa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1030" y="3195828"/>
            <a:ext cx="619657" cy="1828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3077" y="32004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+0,12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557016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Segoe UI"/>
              </a:rPr>
              <a:t>Cloretos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9970" y="3538728"/>
            <a:ext cx="522960" cy="1828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9212" y="3543300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B6B"/>
                </a:solidFill>
                <a:latin typeface="Segoe UI"/>
              </a:rPr>
              <a:t>-0,10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4812" y="404164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C2F39"/>
                </a:solidFill>
                <a:latin typeface="Segoe UI"/>
              </a:rPr>
              <a:t>PUXA A NOTA PARA BAIXO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708" y="4041648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6FA8"/>
                </a:solidFill>
                <a:latin typeface="Segoe UI"/>
              </a:rPr>
              <a:t>PUXA A NOTA PARA CIMA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370832"/>
            <a:ext cx="8010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Segoe UI"/>
              </a:rPr>
              <a:t>A densidade é apenas o espelho do álcool — etanol é menos denso que a água. Não é um efeito independente.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O ACHADO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O que a intuição diz que importa — e não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212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Três variáveis que todo mundo supõe decisivas não têm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qualquer poder de separar vinho bom de vinho ruim: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doçura, pH e SO₂ livre.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089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Mexer no açúcar residual ou corrigir o pH não move a nota — a associação com a qualidade é praticamente zero. O esforço do processo deve ir para álcool, acidez volátil e sulfatos, que são onde o sinal realmente está.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417320"/>
            <a:ext cx="2240280" cy="27432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6642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6B6B"/>
                </a:solidFill>
                <a:latin typeface="Segoe UI"/>
              </a:rPr>
              <a:t>ASSOCIAÇÃO COM A 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99339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Segoe UI"/>
              </a:rPr>
              <a:t>Açúcar residual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67128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6B6B"/>
                </a:solidFill>
                <a:latin typeface="Georgia"/>
              </a:rPr>
              <a:t>+0,06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6946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Segoe UI"/>
              </a:rPr>
              <a:t>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7432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6B6B"/>
                </a:solidFill>
                <a:latin typeface="Georgia"/>
              </a:rPr>
              <a:t>-0,07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14553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Segoe UI"/>
              </a:rPr>
              <a:t>SO₂ livre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31927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6B6B"/>
                </a:solidFill>
                <a:latin typeface="Georgia"/>
              </a:rPr>
              <a:t>-0,06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6248" y="3785615"/>
            <a:ext cx="1783080" cy="9525"/>
          </a:xfrm>
          <a:prstGeom prst="rect">
            <a:avLst/>
          </a:prstGeom>
          <a:solidFill>
            <a:srgbClr val="D8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89534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C2F39"/>
                </a:solidFill>
                <a:latin typeface="Segoe UI"/>
              </a:rPr>
              <a:t>PRATICAMENTE ZERO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INSIGHTS ACIONÁVEIS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Quatro alavancas para o processo produtivo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2F3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444752"/>
            <a:ext cx="3319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Álcool acima de 11%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55648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35% dos vinhos são de alta qualidade acima desse limite, contra apenas 6% abaixo. Cinco vezes mais — reflexo de uva mais madura na colheita.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3730752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46304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2F3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444752"/>
            <a:ext cx="3319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Acidez volátil sob controle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55648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Acima de 0,7 g/L, só 2% atingem alta qualidade, contra 16% abaixo. É o aroma avinagrado, causado pela bactéria acética. Praticamente uma sentença.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670048"/>
            <a:ext cx="3730752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2F39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26080"/>
            <a:ext cx="3319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Sulfatos acima de 0,65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236976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27% de alta qualidade acima desse nível, contra 6% abaixo. Protegem o vinho da oxidação e preservam os aromas ao longo da guarda.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51376"/>
            <a:ext cx="3730752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94436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2F39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926080"/>
            <a:ext cx="33192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Ácido cítrico acima de 0,3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236976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26% contra 6%. Traz frescor — mas parte do mérito é indireta: onde há cítrico, costuma haver menos acidez volátil (correlação de −0,54).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151376"/>
            <a:ext cx="3730752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DESEMPENHO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Random Forest vence onde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6672" y="1243584"/>
            <a:ext cx="100584" cy="1005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9552" y="120700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Random Forest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76872" y="1243584"/>
            <a:ext cx="100584" cy="100584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20700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6362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4650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Taxa de acerto geral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1572768"/>
            <a:ext cx="3833503" cy="1600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7327" y="156819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92,1%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8" y="1764792"/>
            <a:ext cx="3288475" cy="1600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299" y="1760220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79,0%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39696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322576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Acerta quando aponta "bom"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1528" y="2148840"/>
            <a:ext cx="3404137" cy="1600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7961" y="2144268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81,8%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2340864"/>
            <a:ext cx="1506524" cy="1600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0348" y="233629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36,2%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15768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898648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Encontra os bons que existem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2724912"/>
            <a:ext cx="2340292" cy="1600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4116" y="2720340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56,2%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81528" y="2916936"/>
            <a:ext cx="2730133" cy="1600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3957" y="2912364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65,6%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291840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F1-Score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474720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Equilíbrio entre os dois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81528" y="3300984"/>
            <a:ext cx="2773818" cy="1600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37642" y="329641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66,7%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3493008"/>
            <a:ext cx="1941714" cy="1600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5538" y="348843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46,7%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67912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ROC-AUC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050792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Poder de discriminação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81528" y="3877056"/>
            <a:ext cx="3793562" cy="1600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57386" y="3872484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91,2%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1528" y="4069080"/>
            <a:ext cx="3593441" cy="1600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57265" y="4064508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86,4%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26280"/>
            <a:ext cx="8010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Segoe UI"/>
              </a:rPr>
              <a:t>A Regressão Logística encontra mais vinhos bons (recall 66%), mas erra 2 em cada 3 que aponta (precisão 36%). Inviável para triagem.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010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C2F39"/>
                </a:solidFill>
                <a:latin typeface="Segoe UI"/>
              </a:rPr>
              <a:t>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Georgia"/>
              </a:rPr>
              <a:t>O modelo está pronto para um piloto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18304"/>
            <a:ext cx="7644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Segoe UI"/>
              </a:rPr>
              <a:t>Wine Quality Classification  ·  POSTECH DTAT  · 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471830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B6B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05072"/>
            <a:ext cx="8010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Segoe UI"/>
              </a:rPr>
              <a:t>Escopo: a base contém apenas vinhos tintos. Estender a conclusão aos brancos exige nova validação.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53896"/>
            <a:ext cx="25603" cy="56692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17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Triagem automática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435608"/>
            <a:ext cx="5266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Com 91% de poder de discriminação e 92% de acerto, o modelo separa os lotes promissores. O especialista passa a provar só o que importa.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86584"/>
            <a:ext cx="25603" cy="56692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350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Custo zero de implantação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368296"/>
            <a:ext cx="5266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Álcool, acidez volátil, sulfatos e ácido cítrico já são medidos hoje no laboratório. Nenhum equipamento novo, nenhum dado novo: é só conectar ao sistema de decisão.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19272"/>
            <a:ext cx="25603" cy="56692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2826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Correção durante o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300984"/>
            <a:ext cx="5266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6B6B"/>
                </a:solidFill>
                <a:latin typeface="Segoe UI"/>
              </a:rPr>
              <a:t>Se a acidez volátil sobe no tanque, dá para agir enquanto ainda há vinho a salvar — em vez de descobrir o problema quando a garrafa já está fechada.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61104"/>
            <a:ext cx="8010144" cy="9525"/>
          </a:xfrm>
          <a:prstGeom prst="rect">
            <a:avLst/>
          </a:prstGeom>
          <a:solidFill>
            <a:srgbClr val="E2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89120"/>
            <a:ext cx="8010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C2F39"/>
                </a:solidFill>
                <a:latin typeface="Georgia"/>
              </a:rPr>
              <a:t>Próximo passo: escolher uma linha de produção para o piloto.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